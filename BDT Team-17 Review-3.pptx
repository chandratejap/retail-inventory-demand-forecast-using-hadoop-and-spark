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5" r:id="rId5"/>
    <p:sldId id="259" r:id="rId6"/>
    <p:sldId id="267" r:id="rId7"/>
    <p:sldId id="270" r:id="rId8"/>
    <p:sldId id="271" r:id="rId9"/>
    <p:sldId id="277" r:id="rId10"/>
    <p:sldId id="273" r:id="rId11"/>
    <p:sldId id="276" r:id="rId12"/>
    <p:sldId id="269" r:id="rId13"/>
    <p:sldId id="275" r:id="rId14"/>
    <p:sldId id="266" r:id="rId15"/>
  </p:sldIdLst>
  <p:sldSz cx="14630400" cy="8229600"/>
  <p:notesSz cx="8229600" cy="14630400"/>
  <p:embeddedFontLst>
    <p:embeddedFont>
      <p:font typeface="Instrument Sans Medium" pitchFamily="2" charset="0"/>
      <p:regular r:id="rId17"/>
    </p:embeddedFont>
    <p:embeddedFont>
      <p:font typeface="Instrument Sans Semi Bold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6301"/>
  </p:normalViewPr>
  <p:slideViewPr>
    <p:cSldViewPr snapToGrid="0" snapToObjects="1">
      <p:cViewPr>
        <p:scale>
          <a:sx n="69" d="100"/>
          <a:sy n="69" d="100"/>
        </p:scale>
        <p:origin x="50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9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6B4F6-9FA7-9CB7-2B92-B95C45F46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2C64A-57D3-F65F-E57A-E95A68E14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37C7F-D856-1520-F881-1CC23431C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AD813-E26C-0127-2BB1-33CE31B3B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68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3FFB-75FF-A422-4645-4484CED4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FD9E5-B8CB-CBE8-C78A-7AC119065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9F970-F8F9-D398-7C0B-542947CB4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CF026-6CE0-F793-C158-11682C329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53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D47AF-DFA0-7542-39A5-037A5BD0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D797A-7D10-C1EA-69D3-BC2489BDF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C0696-0E90-A6E3-A830-8B67F19F1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43ECA-6D73-9EAC-6BCF-B1BB7AD9F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13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1385E-B772-D9A8-792F-61ECFC4E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3A002-3380-ECF3-9D79-1F7862014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B22EE-D265-281D-AB7E-11CF9D5E1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"Lag features capture temporal dependency by using previous demand values to predict future demand.”</a:t>
            </a:r>
          </a:p>
          <a:p>
            <a:r>
              <a:rPr lang="en-US" dirty="0"/>
              <a:t>"Rolling features help in capturing short-term trends and reducing noise in demand data.”</a:t>
            </a:r>
          </a:p>
          <a:p>
            <a:r>
              <a:rPr lang="en-US" dirty="0"/>
              <a:t>"Date-based features capture seasonal patterns such as weekly and monthly variations in demand.”</a:t>
            </a:r>
          </a:p>
          <a:p>
            <a:r>
              <a:rPr lang="en-US" dirty="0"/>
              <a:t>"Feature engineering improves model performance by incorporating temporal dependencies, trends, and seasonal patterns into the dataset.”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4D7B-50FB-A1F5-01AB-5444BA3B52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72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464B-C05E-26CE-35B8-6D0CB426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2CA83-A50D-EB11-C558-B94A3BDA4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673A7-565A-3D53-E82B-7DEEC5A1D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049D6-A064-CEC9-D2CE-96FD4B805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93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98B9-157C-5BDC-9D58-4324CDE8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7B42D-99A1-DCD4-D003-B065E2392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2655F-B826-5F10-9A04-DB540F5F7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9A262-2839-6C04-041B-943C4E99E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93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139C1-74AB-7841-44C3-7204701F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F6B3F-09F0-2C68-095D-9166C6B61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ED50E-9344-3519-8BE5-577EAF6D9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FEC78-0595-4163-782F-42E2BDE8B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50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CC10-AAB9-B038-8315-215B31B2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2CB5E-8149-183B-72AA-262F74147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232A8-0993-A607-C1D9-87A918ED2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E36FF-89C7-C146-87E8-30EBC379F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81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e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307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Retail Inventory Demand Forecast Using Hadoop and Spark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9726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23DEA3303R – Big Data Technologies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153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No. 17: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33367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2320030313 – Chandra Teja P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2320030476 – Sriram 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2320030362 – Bharath M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5358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Picture 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91161AC2-57E1-98F2-FA15-7A521B5DC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102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A579951F-414B-48A5-78A0-A95989E05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5531"/>
            <a:ext cx="77142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79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72983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3247290"/>
            <a:ext cx="30006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Comments Addressed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28548" y="27179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072983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28548" y="32472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UML Diagram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39984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353500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3790" y="4527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Module-wise Implementation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8548" y="39984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4353500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28548" y="4527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Comparison and Result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52789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634017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3790" y="5808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2789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634017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28548" y="5808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Direction</a:t>
            </a:r>
            <a:endParaRPr lang="en-US" sz="2200" dirty="0"/>
          </a:p>
        </p:txBody>
      </p:sp>
      <p:pic>
        <p:nvPicPr>
          <p:cNvPr id="27" name="Picture 2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8CB73D8-5E07-9F79-3BA3-0A79D530C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28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DB702AA4-8E01-F953-7B15-57A962245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653"/>
            <a:ext cx="60037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Comments Addressed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400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following improvements were incorporated: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3958114"/>
            <a:ext cx="13073300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310" y="3958114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2524" y="42154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UML Diagram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3" y="4705826"/>
            <a:ext cx="118368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UML Activity Diagram was introduced to visually represent the system workflow, including data processing, model training, and prediction stages.</a:t>
            </a:r>
            <a:endParaRPr lang="en-US" dirty="0"/>
          </a:p>
        </p:txBody>
      </p:sp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D0441D7-0592-B4F0-1E54-A6505B48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1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302D8834-8A9C-4BFD-1333-8F6577B82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2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UML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Diagram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71014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1294664-C909-F796-C13D-12437934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6CD562AA-1801-406A-ACB6-6C64E4816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CACD16-9185-9923-B5FD-FE458E295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529" y="5972433"/>
            <a:ext cx="292100" cy="304800"/>
          </a:xfrm>
          <a:prstGeom prst="rect">
            <a:avLst/>
          </a:prstGeom>
        </p:spPr>
      </p:pic>
      <p:pic>
        <p:nvPicPr>
          <p:cNvPr id="12" name="Picture 11" descr="A diagram of a model&#10;&#10;AI-generated content may be incorrect.">
            <a:extLst>
              <a:ext uri="{FF2B5EF4-FFF2-40B4-BE49-F238E27FC236}">
                <a16:creationId xmlns:a16="http://schemas.microsoft.com/office/drawing/2014/main" id="{365CDE32-A72B-70A1-0E37-AB203589F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0470" y="0"/>
            <a:ext cx="8613236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69" y="3739241"/>
            <a:ext cx="13506773" cy="181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8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Module-wise Implementation</a:t>
            </a:r>
            <a:endParaRPr lang="en-US" sz="8000" dirty="0"/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5CDB855-8F7B-67B0-8831-F400CF3BF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94F2ABD1-7008-E47E-EB69-52DE0CE6A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8C1D-BE42-880C-D8A1-83B04B38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2052A5-90E3-4980-AA27-18DA2E4E5563}"/>
              </a:ext>
            </a:extLst>
          </p:cNvPr>
          <p:cNvSpPr/>
          <p:nvPr/>
        </p:nvSpPr>
        <p:spPr>
          <a:xfrm>
            <a:off x="793789" y="905940"/>
            <a:ext cx="92809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Collection &amp; Storage Module</a:t>
            </a:r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A96B4DD-F7C4-A154-1884-DCFF7D76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1F0F2233-41AD-F537-A0F0-8C9B280BF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73ED0F-4ACD-4D94-8C51-D3661F402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9" y="2080920"/>
            <a:ext cx="8897416" cy="2513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F68516-E1D2-E812-BB3C-333DFA880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89" y="4831493"/>
            <a:ext cx="12195080" cy="32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68FB-4720-815A-BCF3-55DAD923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FCF225-A90D-230B-E561-47E1BB3D3556}"/>
              </a:ext>
            </a:extLst>
          </p:cNvPr>
          <p:cNvSpPr/>
          <p:nvPr/>
        </p:nvSpPr>
        <p:spPr>
          <a:xfrm>
            <a:off x="793789" y="1820344"/>
            <a:ext cx="92809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Preprocessing Module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dirty="0">
              <a:solidFill>
                <a:srgbClr val="091C53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E8EDAE8-BDDB-74E4-0449-8C3B02B94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F7D9952C-C04F-DC13-DA05-238FE5F9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FFB8E2-9866-3646-85CA-61D5B17C8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9" y="3298739"/>
            <a:ext cx="7772400" cy="28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4A415-EA3D-3720-C700-EA6D8F8C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6C1F60-5EED-55E6-4065-F312A25B669B}"/>
              </a:ext>
            </a:extLst>
          </p:cNvPr>
          <p:cNvSpPr/>
          <p:nvPr/>
        </p:nvSpPr>
        <p:spPr>
          <a:xfrm>
            <a:off x="793789" y="1820344"/>
            <a:ext cx="92809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Selection Module</a:t>
            </a:r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985C36B-CC5B-5E89-EDA8-D0BC353DA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42AF5897-AC9C-C62D-69CB-CC12E99C9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10AF42-E75D-4784-5806-06C8308FA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9" y="3254461"/>
            <a:ext cx="3441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0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C4906-1013-F0EC-6398-3B086F4D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E0CE6B-B8D1-02C5-7F5A-5A73F9E5AEB0}"/>
              </a:ext>
            </a:extLst>
          </p:cNvPr>
          <p:cNvSpPr/>
          <p:nvPr/>
        </p:nvSpPr>
        <p:spPr>
          <a:xfrm>
            <a:off x="793789" y="1820344"/>
            <a:ext cx="92809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 Module</a:t>
            </a:r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830AD97-CEE7-5E45-F094-A05D94F62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F902B6FB-7A02-7973-AE48-CF30C1731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038D64-2DC5-B7A4-3BA7-87E01E659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9" y="3300627"/>
            <a:ext cx="76200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63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93658-AC37-5D9B-21C3-505B1E11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B9EABC-FCCE-6BA4-9F2E-E3D8A635E0C6}"/>
              </a:ext>
            </a:extLst>
          </p:cNvPr>
          <p:cNvSpPr/>
          <p:nvPr/>
        </p:nvSpPr>
        <p:spPr>
          <a:xfrm>
            <a:off x="793789" y="621735"/>
            <a:ext cx="92809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Demand Forecasting Module</a:t>
            </a:r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48CA5C9-AF0F-D2C8-157B-31D9168AB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916959C2-BDCA-E0E8-2830-51FA85A81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6E0395-F5FD-14B8-BA81-22A874DC8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584698"/>
            <a:ext cx="6997700" cy="4635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62F8CA-66C2-8C51-DC59-FC313F8472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104" y="1584698"/>
            <a:ext cx="5702300" cy="177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4D5491-1F28-BC08-EA9D-0742D39923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2504" y="3616882"/>
            <a:ext cx="66675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902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7A801-F2E5-F12C-F0B2-86B792D4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C526DC-4813-BC9A-5B80-D732DADBC4DB}"/>
              </a:ext>
            </a:extLst>
          </p:cNvPr>
          <p:cNvSpPr/>
          <p:nvPr/>
        </p:nvSpPr>
        <p:spPr>
          <a:xfrm>
            <a:off x="793789" y="782376"/>
            <a:ext cx="92809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Comparison and Result</a:t>
            </a:r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018AEDE-1F2F-828A-3503-58AC67FCD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68654D25-5F58-C6F6-BA0A-09E53692A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41A7C4-37AF-E841-A968-293432DB0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716" y="5840989"/>
            <a:ext cx="3619500" cy="88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5CC48F-49F5-DDAC-DC18-FA969B393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825" y="1621782"/>
            <a:ext cx="5943600" cy="317239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19EE51-98DF-E404-A8DB-F2E04B02A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914098"/>
              </p:ext>
            </p:extLst>
          </p:nvPr>
        </p:nvGraphicFramePr>
        <p:xfrm>
          <a:off x="734825" y="5449283"/>
          <a:ext cx="856887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218">
                  <a:extLst>
                    <a:ext uri="{9D8B030D-6E8A-4147-A177-3AD203B41FA5}">
                      <a16:colId xmlns:a16="http://schemas.microsoft.com/office/drawing/2014/main" val="278915932"/>
                    </a:ext>
                  </a:extLst>
                </a:gridCol>
                <a:gridCol w="2142218">
                  <a:extLst>
                    <a:ext uri="{9D8B030D-6E8A-4147-A177-3AD203B41FA5}">
                      <a16:colId xmlns:a16="http://schemas.microsoft.com/office/drawing/2014/main" val="2410918373"/>
                    </a:ext>
                  </a:extLst>
                </a:gridCol>
                <a:gridCol w="2142218">
                  <a:extLst>
                    <a:ext uri="{9D8B030D-6E8A-4147-A177-3AD203B41FA5}">
                      <a16:colId xmlns:a16="http://schemas.microsoft.com/office/drawing/2014/main" val="4223792980"/>
                    </a:ext>
                  </a:extLst>
                </a:gridCol>
                <a:gridCol w="2142218">
                  <a:extLst>
                    <a:ext uri="{9D8B030D-6E8A-4147-A177-3AD203B41FA5}">
                      <a16:colId xmlns:a16="http://schemas.microsoft.com/office/drawing/2014/main" val="2722452215"/>
                    </a:ext>
                  </a:extLst>
                </a:gridCol>
              </a:tblGrid>
              <a:tr h="617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Relative Error (vs. 13.6k)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072582"/>
                  </a:ext>
                </a:extLst>
              </a:tr>
              <a:tr h="35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~5.3%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~94.7%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029040"/>
                  </a:ext>
                </a:extLst>
              </a:tr>
              <a:tr h="35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ARIMA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~7.1%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~92.9%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547205"/>
                  </a:ext>
                </a:extLst>
              </a:tr>
              <a:tr h="35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~7.3%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~92.7%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1232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F0C36D-97D4-C0E6-D93F-A1B47C5B0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83858"/>
              </p:ext>
            </p:extLst>
          </p:nvPr>
        </p:nvGraphicFramePr>
        <p:xfrm>
          <a:off x="7028996" y="2011640"/>
          <a:ext cx="73152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55594814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330499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53065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from Research Paper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291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Low–Moderate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28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7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(</a:t>
                      </a: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potential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37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Practical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 deployment and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Harder to deploy and maintain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646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571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D4FF-4445-7044-BEAE-3CFCDBED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F20D50-9DC8-44FF-5CAD-C81B78B65741}"/>
              </a:ext>
            </a:extLst>
          </p:cNvPr>
          <p:cNvSpPr/>
          <p:nvPr/>
        </p:nvSpPr>
        <p:spPr>
          <a:xfrm>
            <a:off x="793790" y="16679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4EC4AC-D0B0-09D2-49A4-4CC589BE87F6}"/>
              </a:ext>
            </a:extLst>
          </p:cNvPr>
          <p:cNvSpPr/>
          <p:nvPr/>
        </p:nvSpPr>
        <p:spPr>
          <a:xfrm>
            <a:off x="793790" y="2830337"/>
            <a:ext cx="13042821" cy="3113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a scalable retail demand forecasting system using Hadoop and Spark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Applied time series forecasting to predict future product demand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Improved inventory decision-making using data-driven insights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Reduced risks of overstocking and understocking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Demonstrated the effectiveness of big data technologies in retail analytics</a:t>
            </a:r>
            <a:endParaRPr lang="en-US" sz="2000" dirty="0"/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035A42D8-AF37-5805-C155-70FA24ACE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E5C7E5D0-8D84-B0BF-B940-E3DB82D00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503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A6AC-05DF-AAD8-D379-CD6241EB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E9DAD9-A203-8435-853C-10ED72CDFEBE}"/>
              </a:ext>
            </a:extLst>
          </p:cNvPr>
          <p:cNvSpPr/>
          <p:nvPr/>
        </p:nvSpPr>
        <p:spPr>
          <a:xfrm>
            <a:off x="793790" y="16679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Direction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FA119E-484A-CCBB-D149-CAE6246E14FE}"/>
              </a:ext>
            </a:extLst>
          </p:cNvPr>
          <p:cNvSpPr/>
          <p:nvPr/>
        </p:nvSpPr>
        <p:spPr>
          <a:xfrm>
            <a:off x="793790" y="2830337"/>
            <a:ext cx="13042821" cy="3113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real-time data processing using streaming frameworks (e.g., Spark Streaming, Kafka)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Incorporate advanced models like LSTM and deep learning for improved forecasting accuracy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Include external factors such as economic indicators and customer behavior data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Extend the system to multi-store and large-scale retail environments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automated inventory optimization systems based on predicted demand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interactive dashboards for real-time visualization and decision support</a:t>
            </a:r>
            <a:endParaRPr lang="en-US" sz="2000" dirty="0"/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C230219-EDDC-B1CF-646D-1C423A1C7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E65AB62D-401E-BF75-6AE5-B7F74C031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474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9E8CA45-F516-CDA5-CA56-706B7F04A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4300" y="7543800"/>
            <a:ext cx="1816100" cy="685800"/>
          </a:xfrm>
          <a:prstGeom prst="rect">
            <a:avLst/>
          </a:prstGeom>
        </p:spPr>
      </p:pic>
      <p:pic>
        <p:nvPicPr>
          <p:cNvPr id="4" name="Picture 2" descr="How To Write A Thank You Note In Five Easy Steps">
            <a:extLst>
              <a:ext uri="{FF2B5EF4-FFF2-40B4-BE49-F238E27FC236}">
                <a16:creationId xmlns:a16="http://schemas.microsoft.com/office/drawing/2014/main" id="{4C910022-1AE2-CEE0-4B4C-57AA80155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4630380" cy="822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534CC678-3CD3-0DE8-0C3A-1E4A2AEE0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31" y="-418186"/>
            <a:ext cx="1816100" cy="134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39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</TotalTime>
  <Words>371</Words>
  <Application>Microsoft Macintosh PowerPoint</Application>
  <PresentationFormat>Custom</PresentationFormat>
  <Paragraphs>93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Instrument Sans Light</vt:lpstr>
      <vt:lpstr>Arial</vt:lpstr>
      <vt:lpstr>Instrument Sans Medium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PARVATHANENI CHANDRA TEJA .</cp:lastModifiedBy>
  <cp:revision>15</cp:revision>
  <dcterms:created xsi:type="dcterms:W3CDTF">2026-03-06T03:44:56Z</dcterms:created>
  <dcterms:modified xsi:type="dcterms:W3CDTF">2026-04-01T03:42:59Z</dcterms:modified>
</cp:coreProperties>
</file>